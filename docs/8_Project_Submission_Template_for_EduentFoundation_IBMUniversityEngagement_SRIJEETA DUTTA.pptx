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4" r:id="rId7"/>
    <p:sldId id="285" r:id="rId8"/>
    <p:sldId id="281" r:id="rId9"/>
    <p:sldId id="279" r:id="rId10"/>
    <p:sldId id="262" r:id="rId11"/>
    <p:sldId id="288" r:id="rId12"/>
    <p:sldId id="289" r:id="rId13"/>
    <p:sldId id="290" r:id="rId14"/>
    <p:sldId id="291" r:id="rId15"/>
    <p:sldId id="264" r:id="rId16"/>
    <p:sldId id="278" r:id="rId17"/>
    <p:sldId id="287" r:id="rId18"/>
    <p:sldId id="286" r:id="rId19"/>
    <p:sldId id="277" r:id="rId20"/>
    <p:sldId id="280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hyperlink" Target="8_Project_Submission_Template_for_EduentFoundation_IBMUniversityEngagement_SRIJEETA%20DUTTA.pptx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10" y="2600325"/>
          <a:ext cx="9394825" cy="274510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5020"/>
                <a:gridCol w="2443480"/>
                <a:gridCol w="2442845"/>
                <a:gridCol w="2443480"/>
              </a:tblGrid>
              <a:tr h="12331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5119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SRIJEETA DUTTA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srijeetadutta9a34@gmail.com 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8902963174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 Education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altLang="en-US" sz="2400" b="1" dirty="0">
                <a:highlight>
                  <a:srgbClr val="FFFF00"/>
                </a:highlight>
              </a:rPr>
              <a:t>AdmitAI – AI Powered College Admission Agent 			  (RAG Based)</a:t>
            </a:r>
            <a:endParaRPr lang="en-US" altLang="en-US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 descr="IMG_6420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9705" y="3921125"/>
            <a:ext cx="1153795" cy="1327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US" altLang="en-US" b="1" dirty="0"/>
              <a:t>College Admission Agent (RAG Based)</a:t>
            </a:r>
            <a:r>
              <a:rPr lang="en-US" b="1" dirty="0"/>
              <a:t> 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  <a:r>
              <a:rPr lang="en-US" b="1" dirty="0"/>
              <a:t>:</a:t>
            </a:r>
            <a:endParaRPr lang="en-US" dirty="0"/>
          </a:p>
          <a:p>
            <a:pPr fontAlgn="base"/>
            <a:r>
              <a:rPr lang="en-US" altLang="en-US" b="1" dirty="0"/>
              <a:t>Students often struggle to find accurate and up-to-date admission information</a:t>
            </a:r>
            <a:r>
              <a:rPr lang="en-US" altLang="en-US" b="1" dirty="0"/>
              <a:t> such as eligibility criteria, admission policies, required documents, fee structures, important deadlines, and course details</a:t>
            </a:r>
            <a:r>
              <a:rPr lang="en-US" altLang="en-US" b="1" dirty="0"/>
              <a:t>. Information is usually scattered across brochures, websites, and multiple institutional resources, leading to confusion and increased manual workload for admission offices.</a:t>
            </a:r>
            <a:r>
              <a:rPr lang="en-US" b="1" dirty="0"/>
              <a:t> 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  <a:r>
              <a:rPr lang="en-US" b="1" dirty="0"/>
              <a:t>:</a:t>
            </a:r>
            <a:endParaRPr lang="en-US" dirty="0"/>
          </a:p>
          <a:p>
            <a:pPr fontAlgn="base"/>
            <a:r>
              <a:rPr lang="en-US" altLang="en-US" b="1" dirty="0"/>
              <a:t>Build an </a:t>
            </a:r>
            <a:r>
              <a:rPr lang="en-US" altLang="en-US" b="1" dirty="0"/>
              <a:t>AI-powered College Admission Agent that:</a:t>
            </a:r>
            <a:endParaRPr lang="en-US" altLang="en-US" b="1" dirty="0"/>
          </a:p>
          <a:p>
            <a:pPr fontAlgn="base"/>
            <a:endParaRPr lang="en-US" altLang="en-US" b="1" dirty="0"/>
          </a:p>
          <a:p>
            <a:pPr marL="285750" indent="-285750" fontAlgn="base">
              <a:buFont typeface="Wingdings" panose="05000000000000000000" charset="0"/>
              <a:buChar char="v"/>
            </a:pPr>
            <a:r>
              <a:rPr lang="en-US" altLang="en-US" b="1" dirty="0">
                <a:sym typeface="+mn-ea"/>
              </a:rPr>
              <a:t>Retrieves and summarizes admission policies and eligibility criteria.</a:t>
            </a:r>
            <a:endParaRPr lang="en-US" altLang="en-US" b="1" dirty="0">
              <a:sym typeface="+mn-ea"/>
            </a:endParaRPr>
          </a:p>
          <a:p>
            <a:pPr marL="285750" indent="-285750" fontAlgn="base">
              <a:buFont typeface="Wingdings" panose="05000000000000000000" charset="0"/>
              <a:buChar char="v"/>
            </a:pPr>
            <a:r>
              <a:rPr lang="en-US" altLang="en-US" b="1" dirty="0">
                <a:sym typeface="+mn-ea"/>
              </a:rPr>
              <a:t>Answers admission-related queries in natural language.</a:t>
            </a:r>
            <a:endParaRPr lang="en-US" altLang="en-US" b="1" dirty="0">
              <a:sym typeface="+mn-ea"/>
            </a:endParaRPr>
          </a:p>
          <a:p>
            <a:pPr marL="285750" indent="-285750" fontAlgn="base">
              <a:buFont typeface="Wingdings" panose="05000000000000000000" charset="0"/>
              <a:buChar char="v"/>
            </a:pPr>
            <a:r>
              <a:rPr lang="en-US" altLang="en-US" b="1" dirty="0">
                <a:sym typeface="+mn-ea"/>
              </a:rPr>
              <a:t>Provides guidance regarding courses, application procedures, fee structures, and deadlines.</a:t>
            </a:r>
            <a:endParaRPr lang="en-US" altLang="en-US" b="1" dirty="0">
              <a:sym typeface="+mn-ea"/>
            </a:endParaRPr>
          </a:p>
          <a:p>
            <a:pPr marL="285750" indent="-285750" fontAlgn="base">
              <a:buFont typeface="Wingdings" panose="05000000000000000000" charset="0"/>
              <a:buChar char="v"/>
            </a:pPr>
            <a:r>
              <a:rPr lang="en-US" altLang="en-US" b="1" dirty="0">
                <a:sym typeface="+mn-ea"/>
              </a:rPr>
              <a:t>Reduces manual inquiries and improves accessibility.</a:t>
            </a:r>
            <a:endParaRPr lang="en-US" altLang="en-US" b="1" dirty="0">
              <a:sym typeface="+mn-ea"/>
            </a:endParaRPr>
          </a:p>
          <a:p>
            <a:pPr marL="285750" indent="-285750" fontAlgn="base">
              <a:buFont typeface="Wingdings" panose="05000000000000000000" charset="0"/>
              <a:buChar char="v"/>
            </a:pPr>
            <a:r>
              <a:rPr lang="en-US" altLang="en-US" b="1" dirty="0">
                <a:sym typeface="+mn-ea"/>
              </a:rPr>
              <a:t>Enhances transparency and efficiency in the admission process using trusted institutional data.</a:t>
            </a:r>
            <a:r>
              <a:rPr lang="en-US" b="1" dirty="0">
                <a:sym typeface="+mn-ea"/>
              </a:rPr>
              <a:t> </a:t>
            </a:r>
            <a:endParaRPr lang="en-US" b="1" dirty="0">
              <a:sym typeface="+mn-ea"/>
            </a:endParaRPr>
          </a:p>
          <a:p>
            <a:pPr marL="285750" indent="-285750" fontAlgn="base">
              <a:buFont typeface="Wingdings" panose="05000000000000000000" charset="0"/>
              <a:buChar char="v"/>
            </a:pPr>
            <a:r>
              <a:rPr lang="en-US" altLang="en-US" b="1" dirty="0">
                <a:sym typeface="+mn-ea"/>
              </a:rPr>
              <a:t>To integrate IBM Granite foundation models through IBM watsonx.ai and LangFlow orchestration for intelligent admission assistance.</a:t>
            </a:r>
            <a:endParaRPr lang="en-US" altLang="en-US" b="1" dirty="0">
              <a:sym typeface="+mn-ea"/>
            </a:endParaRPr>
          </a:p>
          <a:p>
            <a:pPr marL="285750" indent="-285750" fontAlgn="base">
              <a:buFont typeface="Wingdings" panose="05000000000000000000" charset="0"/>
              <a:buChar char="v"/>
            </a:pPr>
            <a:endParaRPr lang="en-US" dirty="0">
              <a:sym typeface="+mn-ea"/>
            </a:endParaRPr>
          </a:p>
          <a:p>
            <a:pPr marL="0" indent="0" fontAlgn="base">
              <a:buFont typeface="Wingdings" panose="05000000000000000000" charset="0"/>
              <a:buNone/>
            </a:pPr>
            <a:r>
              <a:rPr lang="en-US" altLang="en-US" b="1" dirty="0"/>
              <a:t>Technology :</a:t>
            </a:r>
            <a:endParaRPr lang="en-US" altLang="en-US" b="1" dirty="0"/>
          </a:p>
          <a:p>
            <a:pPr marL="0" indent="0" fontAlgn="base">
              <a:buFont typeface="Wingdings" panose="05000000000000000000" charset="0"/>
              <a:buNone/>
            </a:pPr>
            <a:r>
              <a:rPr lang="en-US" altLang="en-US" b="1" dirty="0"/>
              <a:t>LangFlow + IBM watsonx.ai + IBM Granite Models</a:t>
            </a:r>
            <a:endParaRPr lang="en-US" altLang="en-US" b="1" dirty="0"/>
          </a:p>
          <a:p>
            <a:pPr marL="285750" indent="-285750" fontAlgn="base">
              <a:buFont typeface="Wingdings" panose="05000000000000000000" charset="0"/>
              <a:buChar char="v"/>
            </a:pPr>
            <a:endParaRPr lang="en-US" altLang="en-US" dirty="0"/>
          </a:p>
          <a:p>
            <a:pPr marL="285750" indent="-285750" fontAlgn="base">
              <a:buFont typeface="Wingdings" panose="05000000000000000000" charset="0"/>
              <a:buChar char="v"/>
            </a:pPr>
            <a:endParaRPr lang="en-US" altLang="en-US" dirty="0"/>
          </a:p>
          <a:p>
            <a:pPr marL="285750" indent="-285750" fontAlgn="base">
              <a:buFont typeface="Wingdings" panose="05000000000000000000" charset="0"/>
              <a:buChar char="v"/>
            </a:pPr>
            <a:endParaRPr lang="en-US" altLang="en-US" dirty="0"/>
          </a:p>
          <a:p>
            <a:pPr marL="285750" indent="-285750" fontAlgn="base">
              <a:buFont typeface="Wingdings" panose="05000000000000000000" charset="0"/>
              <a:buChar char="v"/>
            </a:pPr>
            <a:endParaRPr lang="en-US" altLang="en-US" dirty="0"/>
          </a:p>
          <a:p>
            <a:pPr marL="285750" indent="-285750" fontAlgn="base">
              <a:buFont typeface="Wingdings" panose="05000000000000000000" charset="0"/>
              <a:buChar char="v"/>
            </a:pPr>
            <a:endParaRPr lang="en-US" altLang="en-US" dirty="0"/>
          </a:p>
          <a:p>
            <a:pPr marL="285750" indent="-285750" fontAlgn="base">
              <a:buFont typeface="Wingdings" panose="05000000000000000000" charset="0"/>
              <a:buChar char="Ø"/>
            </a:pPr>
            <a:endParaRPr lang="en-US" altLang="en-US" dirty="0"/>
          </a:p>
          <a:p>
            <a:pPr fontAlgn="base"/>
            <a:endParaRPr lang="en-US" alt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385" y="457200"/>
            <a:ext cx="10607040" cy="6400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/>
              <a:t>Frontend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Streamlit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/>
              <a:t>AI &amp; LLM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IBM Granite 8B Code Instruct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IBM watsonx.ai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/>
              <a:t>Orchestration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LangFlow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RAG Components :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ChromaDB Vector Database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Vector Embeddings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Retrieval-Augmented Generation (RAG)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Knowledge Base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Knowledge Ingestion</a:t>
            </a: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/>
              <a:t>Backend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Python 3.10</a:t>
            </a: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/>
              <a:t>Libraries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LangChain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ChromaDB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Streamlit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PyPDF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Sentence Transformers</a:t>
            </a: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157988"/>
            <a:ext cx="72146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: </a:t>
            </a:r>
            <a:endParaRPr lang="en-IN" sz="2400" b="1" dirty="0"/>
          </a:p>
        </p:txBody>
      </p:sp>
      <p:sp>
        <p:nvSpPr>
          <p:cNvPr id="5" name="Text Box 4"/>
          <p:cNvSpPr txBox="1"/>
          <p:nvPr/>
        </p:nvSpPr>
        <p:spPr>
          <a:xfrm>
            <a:off x="6004560" y="711200"/>
            <a:ext cx="419608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>
                <a:sym typeface="+mn-ea"/>
              </a:rPr>
              <a:t>Knowledge Processing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PDF Document Loader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Text Chunking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Semantic Search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Context Retrieval</a:t>
            </a: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endParaRPr lang="en-US" altLang="en-US" b="1" dirty="0">
              <a:sym typeface="+mn-ea"/>
            </a:endParaRP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>
                <a:sym typeface="+mn-ea"/>
              </a:rPr>
              <a:t>Cloud Platform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IBM Cloud Lite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IBM watsonx.ai Runtime</a:t>
            </a:r>
            <a:endParaRPr lang="en-US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endParaRPr lang="en-US" altLang="en-US" dirty="0">
              <a:sym typeface="+mn-ea"/>
            </a:endParaRP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en-US" b="1" dirty="0">
                <a:sym typeface="+mn-ea"/>
              </a:rPr>
              <a:t>Development &amp; Version Control :</a:t>
            </a:r>
            <a:endParaRPr lang="en-US" alt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>
                <a:sym typeface="+mn-ea"/>
              </a:rPr>
              <a:t>GitHub</a:t>
            </a:r>
            <a:endParaRPr lang="en-US" alt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altLang="en-US" b="1" dirty="0"/>
              <a:t>Proposed Solution – AdmitAI</a:t>
            </a:r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dirty="0"/>
              <a:t>The proposed solution is an </a:t>
            </a:r>
            <a:r>
              <a:rPr lang="en-US" altLang="en-US" b="1" dirty="0"/>
              <a:t>AI-powered College Admission Assistant </a:t>
            </a:r>
            <a:r>
              <a:rPr lang="en-US" altLang="en-US" dirty="0"/>
              <a:t>that combines </a:t>
            </a:r>
            <a:r>
              <a:rPr lang="en-US" altLang="en-US" b="1" dirty="0"/>
              <a:t>Retrieval-Augmented Generation (RAG), IBM Granite foundation models, and LangFlow orchestration.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dirty="0"/>
              <a:t>The system extracts information from </a:t>
            </a:r>
            <a:r>
              <a:rPr lang="en-US" altLang="en-US" b="1" dirty="0"/>
              <a:t>institutional admission brochures and documents, stores it in a vector database, retrieves relevant information based on user queries, and generates accurate responses using IBM Granite 8B Code Instruct through IBM watsonx.ai.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Streamlit-based interface</a:t>
            </a:r>
            <a:r>
              <a:rPr lang="en-US" altLang="en-US" dirty="0"/>
              <a:t> enables students to interact naturally with the system while </a:t>
            </a:r>
            <a:r>
              <a:rPr lang="en-US" altLang="en-US" b="1" dirty="0"/>
              <a:t>LangFlow</a:t>
            </a:r>
            <a:r>
              <a:rPr lang="en-US" altLang="en-US" dirty="0"/>
              <a:t> provides </a:t>
            </a:r>
            <a:r>
              <a:rPr lang="en-US" altLang="en-US" b="1" dirty="0"/>
              <a:t>visual orchestration and model integration.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dirty="0"/>
              <a:t>Key functionalities include: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Admission FAQ support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Eligibility guidance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Required document assistance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Course information retrieval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Application process guidance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Fee structure and deadline assistance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dirty="0"/>
              <a:t>The system provides students with a </a:t>
            </a:r>
            <a:r>
              <a:rPr lang="en-US" altLang="en-US" b="1" dirty="0"/>
              <a:t>conversational interface </a:t>
            </a:r>
            <a:r>
              <a:rPr lang="en-US" altLang="en-US" dirty="0"/>
              <a:t>that </a:t>
            </a:r>
            <a:r>
              <a:rPr lang="en-US" altLang="en-US" b="1" dirty="0"/>
              <a:t>reduces dependency on manual support channels.</a:t>
            </a:r>
            <a:endParaRPr lang="en-US" altLang="en-US" b="1" dirty="0"/>
          </a:p>
          <a:p>
            <a:endParaRPr lang="en-US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altLang="en-US" sz="2400" b="1" dirty="0">
                <a:sym typeface="Times New Roman" panose="02020603050405020304"/>
              </a:rPr>
              <a:t>Components Used</a:t>
            </a:r>
            <a:r>
              <a:rPr lang="en-US" sz="2400" b="1" dirty="0">
                <a:sym typeface="Times New Roman" panose="02020603050405020304"/>
              </a:rPr>
              <a:t> -</a:t>
            </a:r>
            <a:endParaRPr lang="en-US" sz="2400" b="1" dirty="0"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822" y="771747"/>
            <a:ext cx="8823960" cy="732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altLang="en-US" sz="1800" b="1" dirty="0"/>
              <a:t>Components Used in the Project :</a:t>
            </a:r>
            <a:endParaRPr lang="en-US" altLang="en-US" sz="1800" b="1" dirty="0"/>
          </a:p>
          <a:p>
            <a:endParaRPr lang="en-US" altLang="en-US" sz="1800" dirty="0"/>
          </a:p>
          <a:p>
            <a:r>
              <a:rPr lang="en-US" altLang="en-US" b="1" dirty="0"/>
              <a:t>Frontend Components</a:t>
            </a:r>
            <a:r>
              <a:rPr lang="en-IN" altLang="en-US" b="1" dirty="0"/>
              <a:t> -</a:t>
            </a:r>
            <a:endParaRPr lang="en-US" altLang="en-US" dirty="0"/>
          </a:p>
          <a:p>
            <a:r>
              <a:rPr lang="en-US" altLang="en-US" dirty="0"/>
              <a:t>• Streamlit User Interface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Knowledge Components</a:t>
            </a:r>
            <a:r>
              <a:rPr lang="en-IN" altLang="en-US" b="1" dirty="0"/>
              <a:t> -</a:t>
            </a:r>
            <a:endParaRPr lang="en-US" altLang="en-US" b="1" dirty="0"/>
          </a:p>
          <a:p>
            <a:r>
              <a:rPr lang="en-US" altLang="en-US" dirty="0"/>
              <a:t>• Admission Brochure PDF</a:t>
            </a:r>
            <a:endParaRPr lang="en-US" altLang="en-US" dirty="0"/>
          </a:p>
          <a:p>
            <a:r>
              <a:rPr lang="en-US" altLang="en-US" dirty="0"/>
              <a:t>• Text Chunking Module</a:t>
            </a:r>
            <a:endParaRPr lang="en-US" altLang="en-US" dirty="0"/>
          </a:p>
          <a:p>
            <a:r>
              <a:rPr lang="en-US" altLang="en-US" dirty="0"/>
              <a:t>• ChromaDB Vector Store</a:t>
            </a:r>
            <a:endParaRPr lang="en-US" altLang="en-US" dirty="0"/>
          </a:p>
          <a:p>
            <a:r>
              <a:rPr lang="en-US" altLang="en-US" dirty="0"/>
              <a:t>• Retriever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AI Components</a:t>
            </a:r>
            <a:r>
              <a:rPr lang="en-IN" altLang="en-US" b="1" dirty="0"/>
              <a:t> -</a:t>
            </a:r>
            <a:endParaRPr lang="en-US" altLang="en-US" dirty="0"/>
          </a:p>
          <a:p>
            <a:r>
              <a:rPr lang="en-US" altLang="en-US" dirty="0"/>
              <a:t>• IBM watsonx.ai</a:t>
            </a:r>
            <a:endParaRPr lang="en-US" altLang="en-US" dirty="0"/>
          </a:p>
          <a:p>
            <a:r>
              <a:rPr lang="en-US" altLang="en-US" dirty="0"/>
              <a:t>• IBM Granite 8B Code Instruct</a:t>
            </a:r>
            <a:endParaRPr lang="en-US" altLang="en-US" dirty="0"/>
          </a:p>
          <a:p>
            <a:r>
              <a:rPr lang="en-US" altLang="en-US" dirty="0"/>
              <a:t>• LangChain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Orchestration Components</a:t>
            </a:r>
            <a:r>
              <a:rPr lang="en-IN" altLang="en-US" b="1" dirty="0"/>
              <a:t> -</a:t>
            </a:r>
            <a:endParaRPr lang="en-US" altLang="en-US" b="1" dirty="0"/>
          </a:p>
          <a:p>
            <a:r>
              <a:rPr lang="en-US" altLang="en-US" dirty="0"/>
              <a:t>• LangFlow</a:t>
            </a:r>
            <a:endParaRPr lang="en-US" altLang="en-US" dirty="0"/>
          </a:p>
          <a:p>
            <a:r>
              <a:rPr lang="en-US" altLang="en-US" dirty="0"/>
              <a:t>• Prompt Templates</a:t>
            </a:r>
            <a:endParaRPr lang="en-US" altLang="en-US" dirty="0"/>
          </a:p>
          <a:p>
            <a:r>
              <a:rPr lang="en-US" altLang="en-US" dirty="0"/>
              <a:t>• Knowledge Base</a:t>
            </a:r>
            <a:endParaRPr lang="en-US" altLang="en-US" dirty="0"/>
          </a:p>
          <a:p>
            <a:r>
              <a:rPr lang="en-US" altLang="en-US" dirty="0"/>
              <a:t>• Knowledge Ingestion</a:t>
            </a:r>
            <a:endParaRPr lang="en-US" altLang="en-US" dirty="0"/>
          </a:p>
          <a:p>
            <a:r>
              <a:rPr lang="en-US" altLang="en-US" dirty="0"/>
              <a:t>• Parser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Development Components</a:t>
            </a:r>
            <a:r>
              <a:rPr lang="en-IN" altLang="en-US" b="1" dirty="0"/>
              <a:t> -</a:t>
            </a:r>
            <a:endParaRPr lang="en-US" altLang="en-US" b="1" dirty="0"/>
          </a:p>
          <a:p>
            <a:r>
              <a:rPr lang="en-US" altLang="en-US" dirty="0"/>
              <a:t>• Python</a:t>
            </a:r>
            <a:endParaRPr lang="en-US" altLang="en-US" dirty="0"/>
          </a:p>
          <a:p>
            <a:r>
              <a:rPr lang="en-US" altLang="en-US" dirty="0"/>
              <a:t>• GitHub</a:t>
            </a:r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altLang="en-US" sz="2400" b="1" dirty="0">
                <a:sym typeface="Times New Roman" panose="02020603050405020304"/>
              </a:rPr>
              <a:t>Workflow of the Project -</a:t>
            </a:r>
            <a:endParaRPr lang="en-US" altLang="en-US" sz="2400" b="1" dirty="0"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40" y="855980"/>
            <a:ext cx="11217275" cy="528828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756665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</a:t>
            </a:r>
            <a:r>
              <a:rPr lang="en-IN" alt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</a:t>
            </a:r>
            <a:endParaRPr lang="en-IN" altLang="en-US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855" y="770890"/>
            <a:ext cx="6374130" cy="586803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935" y="770890"/>
            <a:ext cx="4128135" cy="586803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-122555"/>
            <a:ext cx="10515600" cy="1325563"/>
          </a:xfrm>
        </p:spPr>
        <p:txBody>
          <a:bodyPr/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LangFlow Implementation</a:t>
            </a:r>
            <a:r>
              <a:rPr lang="en-I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creenshot 2026-06-03 2207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40" y="897890"/>
            <a:ext cx="5522595" cy="506222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Text Box 5"/>
          <p:cNvSpPr txBox="1"/>
          <p:nvPr/>
        </p:nvSpPr>
        <p:spPr>
          <a:xfrm>
            <a:off x="574040" y="6062345"/>
            <a:ext cx="1125220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b="1"/>
              <a:t>Fig : </a:t>
            </a:r>
            <a:r>
              <a:rPr lang="en-US" altLang="zh-CN" b="1"/>
              <a:t>LangFlow orchestration using IBM watsonx.ai and IBM Granite 8B Code Instruct model for conversational admission assistance.</a:t>
            </a:r>
            <a:endParaRPr lang="en-US" altLang="zh-CN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610" y="898525"/>
            <a:ext cx="5422265" cy="506158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100965"/>
            <a:ext cx="10515600" cy="1325563"/>
          </a:xfrm>
        </p:spPr>
        <p:txBody>
          <a:bodyPr>
            <a:normAutofit/>
          </a:bodyPr>
          <a:p>
            <a:r>
              <a:rPr lang="en-US" altLang="en-US" sz="2665" b="1">
                <a:latin typeface="Arial" panose="020B0604020202020204" pitchFamily="34" charset="0"/>
                <a:cs typeface="Arial" panose="020B0604020202020204" pitchFamily="34" charset="0"/>
              </a:rPr>
              <a:t>Knowledge Base and Document Processing Pipeline</a:t>
            </a:r>
            <a:r>
              <a:rPr lang="en-IN" altLang="en-US" sz="2665" b="1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endParaRPr lang="en-IN" altLang="en-US" sz="2665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creenshot 2026-06-04 0008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1091565"/>
            <a:ext cx="10760075" cy="489775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5" name="Text Box 4"/>
          <p:cNvSpPr txBox="1"/>
          <p:nvPr/>
        </p:nvSpPr>
        <p:spPr>
          <a:xfrm>
            <a:off x="787400" y="6134100"/>
            <a:ext cx="1075944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b="1"/>
              <a:t>Fig. : </a:t>
            </a:r>
            <a:r>
              <a:rPr lang="en-US" altLang="zh-CN" b="1"/>
              <a:t>Admission brochure ingestion, text chunking, vector indexing, and retrieval pipeline developed in LangFlow.</a:t>
            </a:r>
            <a:endParaRPr lang="en-US" altLang="zh-CN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060" y="0"/>
            <a:ext cx="10515600" cy="1325563"/>
          </a:xfrm>
        </p:spPr>
        <p:txBody>
          <a:bodyPr/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Streamlit-Based User Interface</a:t>
            </a:r>
            <a:r>
              <a:rPr lang="en-I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creenshot 2026-06-04 020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60" y="1102995"/>
            <a:ext cx="10749915" cy="479044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5" name="Text Box 4"/>
          <p:cNvSpPr txBox="1"/>
          <p:nvPr/>
        </p:nvSpPr>
        <p:spPr>
          <a:xfrm>
            <a:off x="715010" y="6120765"/>
            <a:ext cx="107556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/>
              <a:t>Fig. : </a:t>
            </a:r>
            <a:r>
              <a:rPr lang="en-US" altLang="en-US" b="1"/>
              <a:t>An interactive web-based interface developed using Streamlit that enables students to ask admission-related questions in natural language and receive AI-generated responses instantly.</a:t>
            </a:r>
            <a:endParaRPr 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3520"/>
            <a:ext cx="10515600" cy="1325563"/>
          </a:xfrm>
        </p:spPr>
        <p:txBody>
          <a:bodyPr>
            <a:normAutofit/>
          </a:bodyPr>
          <a:p>
            <a:r>
              <a:rPr lang="en-US" altLang="en-US" sz="2665" b="1">
                <a:latin typeface="Arial" panose="020B0604020202020204" pitchFamily="34" charset="0"/>
                <a:cs typeface="Arial" panose="020B0604020202020204" pitchFamily="34" charset="0"/>
              </a:rPr>
              <a:t>Admission Assistance – Query &amp; Response Demonstration</a:t>
            </a:r>
            <a:r>
              <a:rPr lang="en-IN" altLang="en-US" sz="2665" b="1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endParaRPr lang="en-IN" altLang="en-US" sz="2665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Screenshot 2026-06-04 0212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" y="1277620"/>
            <a:ext cx="5507990" cy="465899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7" name="Picture 6" descr="Screenshot 2026-06-04 021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5" y="1277620"/>
            <a:ext cx="5363845" cy="465836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Text Box 7"/>
          <p:cNvSpPr txBox="1"/>
          <p:nvPr/>
        </p:nvSpPr>
        <p:spPr>
          <a:xfrm>
            <a:off x="588645" y="6118225"/>
            <a:ext cx="550799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/>
              <a:t>Fig</a:t>
            </a:r>
            <a:r>
              <a:rPr lang="en-US" altLang="en-US" b="1"/>
              <a:t> 1: The system retrieves and generates </a:t>
            </a:r>
            <a:r>
              <a:rPr lang="en-IN" altLang="en-US" b="1"/>
              <a:t>college</a:t>
            </a:r>
            <a:r>
              <a:rPr lang="en-US" altLang="en-US" b="1"/>
              <a:t>-related</a:t>
            </a:r>
            <a:r>
              <a:rPr lang="en-IN" altLang="en-US" b="1"/>
              <a:t> educational</a:t>
            </a:r>
            <a:r>
              <a:rPr lang="en-US" altLang="en-US" b="1"/>
              <a:t> information based on user queries using RAG and IBM Granite Models.</a:t>
            </a:r>
            <a:endParaRPr lang="en-US" b="1"/>
          </a:p>
        </p:txBody>
      </p:sp>
      <p:sp>
        <p:nvSpPr>
          <p:cNvPr id="9" name="Text Box 8"/>
          <p:cNvSpPr txBox="1"/>
          <p:nvPr/>
        </p:nvSpPr>
        <p:spPr>
          <a:xfrm>
            <a:off x="6470650" y="6118225"/>
            <a:ext cx="58337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/>
              <a:t>Fig</a:t>
            </a:r>
            <a:r>
              <a:rPr lang="en-US" altLang="en-US" b="1"/>
              <a:t> 2: The assistant provides accurate, context-aware guidance regarding </a:t>
            </a:r>
            <a:r>
              <a:rPr lang="en-IN" altLang="en-US" b="1"/>
              <a:t>existing programs</a:t>
            </a:r>
            <a:r>
              <a:rPr lang="en-US" altLang="en-US" b="1"/>
              <a:t> and </a:t>
            </a:r>
            <a:r>
              <a:rPr lang="en-IN" altLang="en-US" b="1"/>
              <a:t>facilities</a:t>
            </a:r>
            <a:r>
              <a:rPr lang="en-US" altLang="en-US" b="1"/>
              <a:t>.</a:t>
            </a:r>
            <a:endParaRPr 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83464"/>
            <a:ext cx="93177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Role of Agentic AI in the solution</a:t>
            </a:r>
            <a:r>
              <a:rPr lang="en-IN" altLang="en-US" sz="2400" b="1" dirty="0"/>
              <a:t> -</a:t>
            </a:r>
            <a:r>
              <a:rPr lang="en-US" sz="3200" b="1" dirty="0"/>
              <a:t>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21665" y="1167765"/>
            <a:ext cx="7406640" cy="3853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Role of Agentic AI in AdmitAI</a:t>
            </a:r>
            <a:r>
              <a:rPr lang="en-IN" altLang="en-US" b="1" dirty="0"/>
              <a:t> :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b="1" dirty="0"/>
              <a:t>Agentic AI</a:t>
            </a:r>
            <a:r>
              <a:rPr lang="en-US" altLang="en-US" dirty="0"/>
              <a:t> enables </a:t>
            </a:r>
            <a:r>
              <a:rPr lang="en-US" altLang="en-US" b="1" dirty="0"/>
              <a:t>AdmitAI</a:t>
            </a:r>
            <a:r>
              <a:rPr lang="en-US" altLang="en-US" dirty="0"/>
              <a:t> to act as an </a:t>
            </a:r>
            <a:r>
              <a:rPr lang="en-US" altLang="en-US" b="1" dirty="0"/>
              <a:t>intelligent admission assistant</a:t>
            </a:r>
            <a:r>
              <a:rPr lang="en-US" altLang="en-US" dirty="0"/>
              <a:t> capable of </a:t>
            </a:r>
            <a:r>
              <a:rPr lang="en-US" altLang="en-US" b="1" dirty="0"/>
              <a:t>understanding user intent and providing contextual responses.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dirty="0"/>
              <a:t>Key contributions: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Natural language understanding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Context-aware admission guidance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Automated information retrieval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Dynamic response generation</a:t>
            </a:r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b="1" dirty="0"/>
              <a:t>Personalized interaction experience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b="1" dirty="0"/>
              <a:t>IBM Granite Models</a:t>
            </a:r>
            <a:r>
              <a:rPr lang="en-US" altLang="en-US" dirty="0"/>
              <a:t> powered through </a:t>
            </a:r>
            <a:r>
              <a:rPr lang="en-US" altLang="en-US" b="1" dirty="0"/>
              <a:t>watsonx.ai</a:t>
            </a:r>
            <a:r>
              <a:rPr lang="en-US" altLang="en-US" dirty="0"/>
              <a:t> help the system </a:t>
            </a:r>
            <a:r>
              <a:rPr lang="en-US" altLang="en-US" b="1" dirty="0"/>
              <a:t>r</a:t>
            </a:r>
            <a:r>
              <a:rPr lang="en-US" altLang="en-US" b="1" dirty="0"/>
              <a:t>eason over admission information and provide meaningful responses.</a:t>
            </a:r>
            <a:endParaRPr lang="en-US" altLang="en-US" b="1" dirty="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099425" y="1292860"/>
            <a:ext cx="3617595" cy="372935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9960" y="474472"/>
            <a:ext cx="71231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r>
              <a:rPr lang="en-IN" altLang="en-US" sz="2400" b="1" dirty="0"/>
              <a:t> -</a:t>
            </a:r>
            <a:endParaRPr lang="en-IN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342263"/>
            <a:ext cx="10515600" cy="5046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LangFlow Platform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For designing, orchestrating, and managing AI workflows visually. LangFlow enables seamless integration of IBM Granite Models, knowledge bases, and conversational AI components.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IBM Granite 8B Code Instruct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For natural language understanding, question answering, reasoning, and generating accurate admission-related responses for students.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IBM Cloud Lite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Provides the cloud infrastructure and runtime environment required to access IBM watsonx.ai services and deploy AI-powered solutions securely and efficiently.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IBM watsonx.ai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For foundation model access, AI model inference, embeddings generation, and enterprise-grade AI development capabilities.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Retrieval-Augmented Generation (RAG)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Combines information retrieval with Large Language Models to provide accurate, context-aware, and document-grounded answers from admission brochures and institutional documents.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ChromaDB Vector Database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Stores vector embeddings of admission documents and enables efficient semantic search for retrieving relevant information during user queries.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LangChain Framework</a:t>
            </a:r>
            <a:r>
              <a:rPr lang="en-IN" altLang="en-US" b="1" dirty="0"/>
              <a:t> - </a:t>
            </a:r>
            <a:r>
              <a:rPr lang="en-US" altLang="en-US" dirty="0">
                <a:sym typeface="+mn-ea"/>
              </a:rPr>
              <a:t>Acts as the core orchestration framework for connecting LLMs, vector databases, document retrieval pipelines, and conversational workflows.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Streamlit</a:t>
            </a:r>
            <a:r>
              <a:rPr lang="en-IN" altLang="en-US" b="1" dirty="0"/>
              <a:t> - </a:t>
            </a:r>
            <a:r>
              <a:rPr lang="en-US" altLang="en-US" dirty="0"/>
              <a:t>Provides an interactive web-based user interface through which students can ask admission-related questions and receive AI-generated responses.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Python</a:t>
            </a:r>
            <a:r>
              <a:rPr lang="en-IN" altLang="en-US" b="1" dirty="0"/>
              <a:t> - </a:t>
            </a:r>
            <a:r>
              <a:rPr lang="en-US" altLang="en-US" dirty="0"/>
              <a:t>Serves as the primary programming language for implementing the chatbot logic, RAG pipeline, document processing, and backend functionalities.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PDF Knowledge Base</a:t>
            </a:r>
            <a:r>
              <a:rPr lang="en-IN" altLang="en-US" b="1" dirty="0"/>
              <a:t> - </a:t>
            </a:r>
            <a:r>
              <a:rPr lang="en-US" altLang="en-US" dirty="0"/>
              <a:t>Admission brochures and institutional documents are processed, chunked, and indexed to create a searchable knowledge repository for accurate information retrieval.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GitHub</a:t>
            </a:r>
            <a:r>
              <a:rPr lang="en-IN" altLang="en-US" b="1" dirty="0"/>
              <a:t> - </a:t>
            </a:r>
            <a:r>
              <a:rPr lang="en-US" altLang="en-US" dirty="0"/>
              <a:t>Used for version control, project management, code collaboration, and maintaining project documentation.</a:t>
            </a:r>
            <a:endParaRPr lang="en-US" alt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Token Usage in the Project -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1409065"/>
            <a:ext cx="10370185" cy="48679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r>
              <a:rPr lang="en-IN" altLang="en-US" sz="2400" b="1" dirty="0"/>
              <a:t> -</a:t>
            </a:r>
            <a:endParaRPr lang="en-IN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The proposed </a:t>
            </a:r>
            <a:r>
              <a:rPr lang="en-US" altLang="en-US" b="1" dirty="0"/>
              <a:t>AdmitAI – RAG Based College Admission Assistant</a:t>
            </a:r>
            <a:r>
              <a:rPr lang="en-US" altLang="en-US" dirty="0"/>
              <a:t> combines </a:t>
            </a:r>
            <a:r>
              <a:rPr lang="en-US" altLang="en-US" b="1" dirty="0"/>
              <a:t>RAG, IBM Granite Models, LangFlow, and intelligent admission assistance into a single AI-powered platform.</a:t>
            </a:r>
            <a:endParaRPr lang="en-US" altLang="en-US" b="1" dirty="0"/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RAG-Based Admission Intelligence</a:t>
            </a:r>
            <a:r>
              <a:rPr lang="en-IN" altLang="en-US" b="1" dirty="0"/>
              <a:t> - </a:t>
            </a:r>
            <a:r>
              <a:rPr lang="en-US" altLang="en-US" dirty="0"/>
              <a:t>Retrieves information directly from admission brochures and institutional documents before generating responses, ensuring accuracy and reliability.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Document-Grounded Responses</a:t>
            </a:r>
            <a:r>
              <a:rPr lang="en-IN" altLang="en-US" b="1" dirty="0"/>
              <a:t> - </a:t>
            </a:r>
            <a:r>
              <a:rPr lang="en-US" altLang="en-US" dirty="0"/>
              <a:t>Provides answers based on verified admission documents, reducing misinformation regarding eligibility, fees, courses, and deadlines.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Conversational Student Assistance</a:t>
            </a:r>
            <a:r>
              <a:rPr lang="en-IN" altLang="en-US" b="1" dirty="0"/>
              <a:t> - </a:t>
            </a:r>
            <a:r>
              <a:rPr lang="en-US" altLang="en-US" dirty="0"/>
              <a:t>Allows students to ask questions in natural language and receive instant admission-related guidance.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IBM Granite-Powered Reasoning</a:t>
            </a:r>
            <a:r>
              <a:rPr lang="en-IN" altLang="en-US" b="1" dirty="0"/>
              <a:t> - </a:t>
            </a:r>
            <a:r>
              <a:rPr lang="en-US" altLang="en-US" dirty="0"/>
              <a:t>Uses </a:t>
            </a:r>
            <a:r>
              <a:rPr lang="en-US" altLang="en-US" b="1" dirty="0"/>
              <a:t>IBM Granite Models</a:t>
            </a:r>
            <a:r>
              <a:rPr lang="en-US" altLang="en-US" dirty="0"/>
              <a:t> through watsonx.ai for context-aware understanding and intelligent response generation.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LangFlow Orchestration</a:t>
            </a:r>
            <a:r>
              <a:rPr lang="en-IN" altLang="en-US" b="1" dirty="0"/>
              <a:t> - </a:t>
            </a:r>
            <a:r>
              <a:rPr lang="en-US" altLang="en-US" dirty="0"/>
              <a:t>Integrates </a:t>
            </a:r>
            <a:r>
              <a:rPr lang="en-US" altLang="en-US" b="1" dirty="0"/>
              <a:t>LangFlow</a:t>
            </a:r>
            <a:r>
              <a:rPr lang="en-US" altLang="en-US" dirty="0"/>
              <a:t> for visual workflow design, model orchestration, and scalable AI pipeline management.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Smart Knowledge Retrieval</a:t>
            </a:r>
            <a:r>
              <a:rPr lang="en-IN" altLang="en-US" b="1" dirty="0"/>
              <a:t> - </a:t>
            </a:r>
            <a:r>
              <a:rPr lang="en-US" altLang="en-US" dirty="0"/>
              <a:t>Uses vector embeddings and semantic search to retrieve the most relevant admission information efficiently.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Scalable &amp; Enterprise-Ready</a:t>
            </a:r>
            <a:r>
              <a:rPr lang="en-IN" altLang="en-US" b="1" dirty="0"/>
              <a:t> - </a:t>
            </a:r>
            <a:r>
              <a:rPr lang="en-US" altLang="en-US" dirty="0"/>
              <a:t>Built using </a:t>
            </a:r>
            <a:r>
              <a:rPr lang="en-US" altLang="en-US" b="1" dirty="0"/>
              <a:t>IBM watsonx.ai, IBM Granite, LangFlow, LangChain, and ChromaDB</a:t>
            </a:r>
            <a:r>
              <a:rPr lang="en-US" altLang="en-US" dirty="0"/>
              <a:t>, making it suitable for future expansion across institutions.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This transforms the system from a traditional FAQ chatbot into an intelligent, document-aware admission advisor.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Git Hub Link</a:t>
            </a:r>
            <a:r>
              <a:rPr lang="en-IN" altLang="en-US" sz="2400" b="1" dirty="0">
                <a:sym typeface="Times New Roman" panose="02020603050405020304"/>
              </a:rPr>
              <a:t> -</a:t>
            </a:r>
            <a:endParaRPr lang="en-IN" altLang="en-US"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50" b="1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50" b="1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URL</a:t>
            </a: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</a:t>
            </a:r>
            <a:r>
              <a:rPr lang="en-IN" alt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 action="ppaction://hlinkfile"/>
              </a:rPr>
              <a:t>https://github.com/Srijeeta977/AdmitAI-College-Admission-Agent</a:t>
            </a:r>
            <a:endParaRPr lang="en-US" altLang="en-US" sz="1850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114584" y="42009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Future Scope </a:t>
            </a:r>
            <a:r>
              <a:rPr lang="en-IN" altLang="en-US" sz="2400" b="1" dirty="0">
                <a:sym typeface="Times New Roman" panose="02020603050405020304"/>
              </a:rPr>
              <a:t>-</a:t>
            </a:r>
            <a:endParaRPr lang="en-IN" altLang="en-US"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11458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1.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Multi-College Admission Support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Expand the platform to support multiple colleges and universities, enabling students to compare admission requirements and opportunities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2. Voice Assistant &amp; Multilingual Support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Introduce voice interaction and multiple language support to improve accessibility and user experience.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3. Personalized Course Recommendations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Recommend suitable courses based on student interests, academic background, and career goals.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4. Real-Time Admission Updates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Integrate with admission portals to provide live updates on deadlines, counseling schedules, and application status.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5. Automated Application Guidance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Assist students with document preparation, application procedures, and submission tracking.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6. Analytics &amp; Institutional Insights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Provide colleges with insights into common student queries and admission trends.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7. Virtual Admission Counselor</a:t>
            </a:r>
            <a:r>
              <a:rPr lang="en-IN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:</a:t>
            </a:r>
            <a:r>
              <a:rPr lang="en-IN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Evolve into a 24×7 AI-powered admission counselor capable of handling large-scale student interactions efficiently.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9009</Words>
  <Application>WPS Presentation</Application>
  <PresentationFormat>Widescreen</PresentationFormat>
  <Paragraphs>257</Paragraphs>
  <Slides>19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Times New Roman</vt:lpstr>
      <vt:lpstr>Wingdings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LangFlow Implementation -</vt:lpstr>
      <vt:lpstr>Knowledge Base and Document Processing Pipeline -</vt:lpstr>
      <vt:lpstr>Streamlit-Based User Interface -</vt:lpstr>
      <vt:lpstr>Admission Assistance – Query &amp; Response Demonstration -</vt:lpstr>
      <vt:lpstr>PowerPoint 演示文稿</vt:lpstr>
      <vt:lpstr>PowerPoint 演示文稿</vt:lpstr>
      <vt:lpstr>Token Usage in the Project -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SRIJEETA DUTTA</cp:lastModifiedBy>
  <cp:revision>69</cp:revision>
  <dcterms:created xsi:type="dcterms:W3CDTF">2025-07-08T05:06:00Z</dcterms:created>
  <dcterms:modified xsi:type="dcterms:W3CDTF">2026-06-04T14:08:36Z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9F5DBB75EA9B442D922F20BE695FAEEA_13</vt:lpwstr>
  </property>
  <property fmtid="{D5CDD505-2E9C-101B-9397-08002B2CF9AE}" pid="3" name="KSOProductBuildVer">
    <vt:lpwstr>1033-12.1.0.26372</vt:lpwstr>
  </property>
</Properties>
</file>